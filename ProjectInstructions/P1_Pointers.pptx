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9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jqzUZAmr5b9TO/Rnlud1sBXjY/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BD9C84-7A14-4F30-95C7-7FFE6B773DDB}">
  <a:tblStyle styleId="{0BBD9C84-7A14-4F30-95C7-7FFE6B773DD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8B65A67-4CA3-4DC8-9A59-57630A8435B8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56" d="100"/>
          <a:sy n="156" d="100"/>
        </p:scale>
        <p:origin x="80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Can you change the definition of always block 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If there is any change in the sensitivity list(event) the code inside the block will be executed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Add that assign cannot be used with reg datatypes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solidFill>
                  <a:srgbClr val="FF0000"/>
                </a:solidFill>
              </a:rPr>
              <a:t>it will check if the expression matches the case item in the list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Remove “</a:t>
            </a:r>
            <a:r>
              <a:rPr lang="en-US">
                <a:solidFill>
                  <a:srgbClr val="FF0000"/>
                </a:solidFill>
              </a:rPr>
              <a:t>like registers”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>
              <a:solidFill>
                <a:srgbClr val="FF0000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Its stateless and doesn’t store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Mostly used in combinational logic design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Refer to port connection example to see the usage of wire in port connections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Rephrase this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 = ^a^bA + a^bB + ^abC + abD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50893954-6686-FAE9-6881-CF38FE2D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>
            <a:extLst>
              <a:ext uri="{FF2B5EF4-FFF2-40B4-BE49-F238E27FC236}">
                <a16:creationId xmlns:a16="http://schemas.microsoft.com/office/drawing/2014/main" id="{6FCFD479-A03F-F58A-A929-77B4BBCBA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30:notes">
            <a:extLst>
              <a:ext uri="{FF2B5EF4-FFF2-40B4-BE49-F238E27FC236}">
                <a16:creationId xmlns:a16="http://schemas.microsoft.com/office/drawing/2014/main" id="{FE2830A4-E599-171D-A7BB-7FBC96FFC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67571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4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4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se.buffalo.edu/~rsridhar/cse490-590/lec/verilog_manual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-ieee-org.gate.lib.buffalo.edu/stamp/stamp.jsp?tp=&amp;arnumber=95490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1324642" y="799364"/>
            <a:ext cx="60960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 Pointers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CSE490-590 Fall </a:t>
            </a:r>
            <a:r>
              <a:rPr lang="en-US" sz="3000" dirty="0"/>
              <a:t>2026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206775" y="4250352"/>
            <a:ext cx="59903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From prior semesters of CSE490/590 offerings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Project 1</a:t>
            </a:r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Design an 16-bit microprocessor using Verilog HDL by using Structural Verilog modelling.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The individual components can be designed using </a:t>
            </a:r>
            <a:r>
              <a:rPr lang="en-US" b="1" dirty="0"/>
              <a:t>behavioral modelling</a:t>
            </a:r>
            <a:endParaRPr dirty="0"/>
          </a:p>
          <a:p>
            <a:pPr marL="285750" lvl="0" indent="-171450" algn="l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18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2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</a:rPr>
              <a:t>Brief Overview</a:t>
            </a:r>
            <a:endParaRPr b="1"/>
          </a:p>
        </p:txBody>
      </p:sp>
      <p:sp>
        <p:nvSpPr>
          <p:cNvPr id="69" name="Google Shape;69;p3"/>
          <p:cNvSpPr txBox="1"/>
          <p:nvPr/>
        </p:nvSpPr>
        <p:spPr>
          <a:xfrm>
            <a:off x="286300" y="1076275"/>
            <a:ext cx="810626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Verilog control flow keywords are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always @(...)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begin/end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endcase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initial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assign</a:t>
            </a:r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endParaRPr sz="1200" dirty="0"/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Verilog datatypes can be declared as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reg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wire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array with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[MSB:LSB]</a:t>
            </a:r>
            <a:endParaRPr sz="1200" dirty="0"/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Modules in Verilog can be created by declaring a module with a port list of inputs and outputs.</a:t>
            </a:r>
            <a:endParaRPr sz="1200" dirty="0"/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Behavioral Verilog is used to describe a module at a high level (think of writing a program in C).</a:t>
            </a:r>
            <a:endParaRPr sz="1200" dirty="0"/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Structural Verilog is used to describe a module at a low level by using primitive types (and/or/not...) and can be used to connect modules together.</a:t>
            </a:r>
            <a:endParaRPr sz="1200" dirty="0"/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 MIPS CPU is described in detail here.</a:t>
            </a:r>
            <a:endParaRPr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Verilog Resources</a:t>
            </a:r>
            <a:endParaRPr b="1"/>
          </a:p>
        </p:txBody>
      </p:sp>
      <p:sp>
        <p:nvSpPr>
          <p:cNvPr id="75" name="Google Shape;7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US" dirty="0"/>
              <a:t>Verilog manual: </a:t>
            </a:r>
            <a:r>
              <a:rPr lang="en-US" sz="1400" u="sng" dirty="0">
                <a:solidFill>
                  <a:schemeClr val="hlink"/>
                </a:solidFill>
                <a:hlinkClick r:id="rId3"/>
              </a:rPr>
              <a:t>https://cse.buffalo.edu/~rsridhar/cse490-590/lec/verilog_manual.pdf</a:t>
            </a:r>
            <a:r>
              <a:rPr lang="en-US" sz="1400" dirty="0"/>
              <a:t> 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US" dirty="0"/>
              <a:t>"Digital Systems Design Using Verilog" by Charles Roth , Lizy K. John, Byeong Kil Lee 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US" dirty="0"/>
              <a:t>IEEE Standard Verilog Hardware Description Language (Manual for Verilog) (</a:t>
            </a:r>
            <a:r>
              <a:rPr lang="en-US" sz="1400" u="sng" dirty="0">
                <a:solidFill>
                  <a:schemeClr val="hlink"/>
                </a:solidFill>
                <a:hlinkClick r:id="rId4"/>
              </a:rPr>
              <a:t>https://ieeexplore-ieee-org.gate.lib.buffalo.edu/stamp/stamp.jsp?tp=&amp;arnumber=954909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159300" y="251300"/>
            <a:ext cx="8520600" cy="63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 Important Verilog Keywords/ Concepts / Usages  </a:t>
            </a:r>
            <a:br>
              <a:rPr lang="en-US" b="1"/>
            </a:br>
            <a:endParaRPr b="1"/>
          </a:p>
        </p:txBody>
      </p:sp>
      <p:sp>
        <p:nvSpPr>
          <p:cNvPr id="81" name="Google Shape;81;p5"/>
          <p:cNvSpPr txBox="1">
            <a:spLocks noGrp="1"/>
          </p:cNvSpPr>
          <p:nvPr>
            <p:ph type="body" idx="1"/>
          </p:nvPr>
        </p:nvSpPr>
        <p:spPr>
          <a:xfrm>
            <a:off x="2863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always @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assign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case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reg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wire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initial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else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arrays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Blocking vs non-blocking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Module instantiations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Port connections 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 dirty="0"/>
              <a:t>Control Flow:</a:t>
            </a:r>
            <a:r>
              <a:rPr lang="en-US" dirty="0"/>
              <a:t> 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always@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If there is any change in the sensitivity list (event) the code inside the block will be executed. Code inside an always block is executed sequentially.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88" name="Google Shape;88;p6"/>
          <p:cNvSpPr txBox="1"/>
          <p:nvPr/>
        </p:nvSpPr>
        <p:spPr>
          <a:xfrm>
            <a:off x="475775" y="2310725"/>
            <a:ext cx="36270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chemeClr val="dk2"/>
                </a:solidFill>
              </a:rPr>
              <a:t>Syntax: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always@(&lt;</a:t>
            </a:r>
            <a:r>
              <a:rPr lang="en-US" sz="1800" i="1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sensiti</a:t>
            </a:r>
            <a:r>
              <a:rPr lang="en-US" sz="1800" i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vity </a:t>
            </a:r>
            <a:r>
              <a:rPr lang="en-US" sz="1800" i="1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sz="180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80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code to be executed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9" name="Google Shape;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01717" y="2439590"/>
            <a:ext cx="4366510" cy="17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311700" y="195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Control Flow:</a:t>
            </a:r>
            <a:r>
              <a:rPr lang="en-US"/>
              <a:t> 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assign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1700" y="687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assign</a:t>
            </a:r>
            <a:r>
              <a:rPr lang="en-US"/>
              <a:t> statement can drive wires or other similar wire data-types </a:t>
            </a:r>
            <a:r>
              <a:rPr lang="en-US" i="1"/>
              <a:t>continuously</a:t>
            </a:r>
            <a:r>
              <a:rPr lang="en-US"/>
              <a:t> with a value. However, the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assign</a:t>
            </a:r>
            <a:r>
              <a:rPr lang="en-US"/>
              <a:t> statement can’t assign value to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reg</a:t>
            </a:r>
            <a:r>
              <a:rPr lang="en-US"/>
              <a:t> data-types.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411750" y="1777000"/>
            <a:ext cx="8320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Syntax:</a:t>
            </a:r>
            <a:endParaRPr sz="16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assign &lt;</a:t>
            </a:r>
            <a:r>
              <a:rPr lang="en-US" sz="1600" i="1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n-US" sz="160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 = &lt;</a:t>
            </a:r>
            <a:r>
              <a:rPr lang="en-US" sz="1600" i="1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expression of different signals or constant value</a:t>
            </a:r>
            <a:r>
              <a:rPr lang="en-US" sz="160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0793" y="2361991"/>
            <a:ext cx="3391966" cy="2713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873" y="2488633"/>
            <a:ext cx="3167742" cy="2531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>
            <a:spLocks noGrp="1"/>
          </p:cNvSpPr>
          <p:nvPr>
            <p:ph type="title"/>
          </p:nvPr>
        </p:nvSpPr>
        <p:spPr>
          <a:xfrm>
            <a:off x="311700" y="22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Control Flow:</a:t>
            </a:r>
            <a:r>
              <a:rPr lang="en-US"/>
              <a:t> 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case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8"/>
          <p:cNvSpPr txBox="1">
            <a:spLocks noGrp="1"/>
          </p:cNvSpPr>
          <p:nvPr>
            <p:ph type="body" idx="1"/>
          </p:nvPr>
        </p:nvSpPr>
        <p:spPr>
          <a:xfrm>
            <a:off x="311700" y="926142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The 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dirty="0"/>
              <a:t> statement is similar to the 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if-else</a:t>
            </a:r>
            <a:r>
              <a:rPr lang="en-US" dirty="0"/>
              <a:t> statement; it will check if the value of the expression matches one of the case items in the list. The statement in the matched expression will be executed.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5" name="Google Shape;105;p8"/>
          <p:cNvSpPr txBox="1"/>
          <p:nvPr/>
        </p:nvSpPr>
        <p:spPr>
          <a:xfrm>
            <a:off x="434966" y="2314456"/>
            <a:ext cx="34935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ase(&lt;</a:t>
            </a:r>
            <a:r>
              <a:rPr lang="en-US" sz="1600" i="1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expression</a:t>
            </a: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&lt;</a:t>
            </a:r>
            <a:r>
              <a:rPr lang="en-US" sz="1600" i="1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sz="1600" i="1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i="1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item1</a:t>
            </a: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&gt;: &lt;</a:t>
            </a:r>
            <a:r>
              <a:rPr lang="en-US" sz="1600" i="1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&lt;</a:t>
            </a:r>
            <a:r>
              <a:rPr lang="en-US" sz="1600" i="1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sz="1600" i="1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i="1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item2</a:t>
            </a: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&gt;: &lt;</a:t>
            </a:r>
            <a:r>
              <a:rPr lang="en-US" sz="1600" i="1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default: &lt;statement&gt;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endcase</a:t>
            </a:r>
            <a:endParaRPr sz="1600" i="0" u="none" strike="noStrike" cap="none" dirty="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0866" y="2096047"/>
            <a:ext cx="3403600" cy="275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311700" y="246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Control Flow:</a:t>
            </a:r>
            <a:r>
              <a:rPr lang="en-US"/>
              <a:t> 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initial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" name="Google Shape;112;p9"/>
          <p:cNvSpPr txBox="1">
            <a:spLocks noGrp="1"/>
          </p:cNvSpPr>
          <p:nvPr>
            <p:ph type="body" idx="1"/>
          </p:nvPr>
        </p:nvSpPr>
        <p:spPr>
          <a:xfrm>
            <a:off x="311700" y="771100"/>
            <a:ext cx="85206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There are 2 types of procedural blocks: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always</a:t>
            </a:r>
            <a:r>
              <a:rPr lang="en-US"/>
              <a:t> and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initial</a:t>
            </a:r>
            <a:r>
              <a:rPr lang="en-US"/>
              <a:t>. Statements in both these types of blocks are executed sequentially. However, unlike the always block, statements in the initial block will only execute once.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13" name="Google Shape;11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3400" y="2397727"/>
            <a:ext cx="3103080" cy="244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9"/>
          <p:cNvSpPr txBox="1"/>
          <p:nvPr/>
        </p:nvSpPr>
        <p:spPr>
          <a:xfrm>
            <a:off x="1051560" y="1858900"/>
            <a:ext cx="720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initial block will be executed sequentially.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Eventually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reg_a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3’b001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 dirty="0"/>
              <a:t>Control Flow:</a:t>
            </a:r>
            <a:r>
              <a:rPr lang="en-US" dirty="0"/>
              <a:t> 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if-else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0" name="Google Shape;12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3128" y="863550"/>
            <a:ext cx="2932784" cy="36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Similar to other programming languages.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Syntax: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if (&lt;</a:t>
            </a:r>
            <a:r>
              <a:rPr lang="en-US" sz="1400" i="1" dirty="0">
                <a:latin typeface="Consolas"/>
                <a:ea typeface="Consolas"/>
                <a:cs typeface="Consolas"/>
                <a:sym typeface="Consolas"/>
              </a:rPr>
              <a:t>conditional statement</a:t>
            </a: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&gt;) begin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	……;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end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else if (&lt;</a:t>
            </a:r>
            <a:r>
              <a:rPr lang="en-US" sz="1400" i="1" dirty="0">
                <a:latin typeface="Consolas"/>
                <a:ea typeface="Consolas"/>
                <a:cs typeface="Consolas"/>
                <a:sym typeface="Consolas"/>
              </a:rPr>
              <a:t>conditional statement</a:t>
            </a: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&gt;) begin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	……;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end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else begin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	……;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latin typeface="Consolas"/>
                <a:ea typeface="Consolas"/>
                <a:cs typeface="Consolas"/>
                <a:sym typeface="Consolas"/>
              </a:rPr>
              <a:t>end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9;p10">
            <a:extLst>
              <a:ext uri="{FF2B5EF4-FFF2-40B4-BE49-F238E27FC236}">
                <a16:creationId xmlns:a16="http://schemas.microsoft.com/office/drawing/2014/main" id="{2AECCBF4-C378-E816-1B4E-3816C0AE2E60}"/>
              </a:ext>
            </a:extLst>
          </p:cNvPr>
          <p:cNvSpPr txBox="1">
            <a:spLocks/>
          </p:cNvSpPr>
          <p:nvPr/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800" b="1" dirty="0">
                <a:latin typeface="+mj-lt"/>
              </a:rPr>
              <a:t>Control Flow:</a:t>
            </a:r>
            <a:r>
              <a:rPr lang="en-US" sz="2800" dirty="0">
                <a:latin typeface="+mj-lt"/>
              </a:rPr>
              <a:t> </a:t>
            </a:r>
            <a:r>
              <a:rPr lang="en-US" sz="28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for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49784-2924-92E5-66B6-C76E457EECB0}"/>
              </a:ext>
            </a:extLst>
          </p:cNvPr>
          <p:cNvSpPr txBox="1"/>
          <p:nvPr/>
        </p:nvSpPr>
        <p:spPr>
          <a:xfrm>
            <a:off x="311699" y="940171"/>
            <a:ext cx="3460202" cy="276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Similar to C.</a:t>
            </a: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Syntax:</a:t>
            </a: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for (</a:t>
            </a: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lang="en-GB" dirty="0">
                <a:solidFill>
                  <a:srgbClr val="595959"/>
                </a:solidFill>
                <a:latin typeface="Consolas" panose="020B0609020204030204" pitchFamily="49" charset="0"/>
              </a:rPr>
              <a:t> 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&lt;</a:t>
            </a:r>
            <a:r>
              <a:rPr kumimoji="0" lang="en-GB" sz="1400" b="0" i="1" u="none" strike="noStrike" kern="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initial_condition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&gt;; </a:t>
            </a: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lang="en-GB" dirty="0">
                <a:solidFill>
                  <a:srgbClr val="595959"/>
                </a:solidFill>
                <a:latin typeface="Consolas" panose="020B0609020204030204" pitchFamily="49" charset="0"/>
              </a:rPr>
              <a:t> 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&lt;</a:t>
            </a:r>
            <a:r>
              <a:rPr kumimoji="0" lang="en-GB" sz="1400" b="0" i="1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condition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&gt;; </a:t>
            </a: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lang="en-GB" dirty="0">
                <a:solidFill>
                  <a:srgbClr val="595959"/>
                </a:solidFill>
                <a:latin typeface="Consolas" panose="020B0609020204030204" pitchFamily="49" charset="0"/>
              </a:rPr>
              <a:t> 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&lt;</a:t>
            </a:r>
            <a:r>
              <a:rPr kumimoji="0" lang="en-GB" sz="1400" b="0" i="1" u="none" strike="noStrike" kern="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step_assignment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&gt;</a:t>
            </a: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) begin</a:t>
            </a: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	………;</a:t>
            </a:r>
          </a:p>
          <a:p>
            <a:pPr marL="1143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onsolas" panose="020B0609020204030204" pitchFamily="49" charset="0"/>
                <a:sym typeface="Arial"/>
              </a:rPr>
              <a:t>end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44EC4A-CB45-68B7-1492-951EF7CD1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852" y="594497"/>
            <a:ext cx="3537098" cy="36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73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Data Types:</a:t>
            </a:r>
            <a:r>
              <a:rPr lang="en-US"/>
              <a:t> 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11"/>
          <p:cNvSpPr txBox="1">
            <a:spLocks noGrp="1"/>
          </p:cNvSpPr>
          <p:nvPr>
            <p:ph type="body" idx="1"/>
          </p:nvPr>
        </p:nvSpPr>
        <p:spPr>
          <a:xfrm>
            <a:off x="311700" y="1160942"/>
            <a:ext cx="8520600" cy="45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reg</a:t>
            </a:r>
            <a:r>
              <a:rPr lang="en-US"/>
              <a:t> is the most common variable data type, it stores information.</a:t>
            </a:r>
            <a:endParaRPr>
              <a:solidFill>
                <a:srgbClr val="FF0000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28" name="Google Shape;128;p11"/>
          <p:cNvSpPr txBox="1"/>
          <p:nvPr/>
        </p:nvSpPr>
        <p:spPr>
          <a:xfrm>
            <a:off x="311700" y="1612850"/>
            <a:ext cx="409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sz="14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type cannot be used for inputs to a module</a:t>
            </a:r>
            <a:endParaRPr/>
          </a:p>
        </p:txBody>
      </p:sp>
      <p:pic>
        <p:nvPicPr>
          <p:cNvPr id="129" name="Google Shape;12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3573" y="1826427"/>
            <a:ext cx="3108619" cy="1057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1"/>
          <p:cNvSpPr txBox="1"/>
          <p:nvPr/>
        </p:nvSpPr>
        <p:spPr>
          <a:xfrm>
            <a:off x="4673575" y="1612850"/>
            <a:ext cx="413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sz="14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type can be used for the outputs of module</a:t>
            </a:r>
            <a:endParaRPr/>
          </a:p>
        </p:txBody>
      </p:sp>
      <p:pic>
        <p:nvPicPr>
          <p:cNvPr id="131" name="Google Shape;13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90" y="1900014"/>
            <a:ext cx="4302913" cy="1057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551" y="3511382"/>
            <a:ext cx="2509164" cy="1359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 txBox="1"/>
          <p:nvPr/>
        </p:nvSpPr>
        <p:spPr>
          <a:xfrm>
            <a:off x="380652" y="3203575"/>
            <a:ext cx="821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reg</a:t>
            </a:r>
            <a:r>
              <a:rPr lang="en-US"/>
              <a:t> type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lang="en-US"/>
              <a:t>the left-hand side (LHS) of an assignment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legal in </a:t>
            </a:r>
            <a:r>
              <a:rPr lang="en-US" sz="14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always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4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initial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blocks</a:t>
            </a:r>
            <a:r>
              <a:rPr lang="en-US"/>
              <a:t>:</a:t>
            </a:r>
            <a:endParaRPr/>
          </a:p>
        </p:txBody>
      </p:sp>
      <p:pic>
        <p:nvPicPr>
          <p:cNvPr id="134" name="Google Shape;134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84490" y="3552326"/>
            <a:ext cx="3188377" cy="114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Data Types:</a:t>
            </a:r>
            <a:r>
              <a:rPr lang="en-US"/>
              <a:t> 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reg</a:t>
            </a:r>
            <a:r>
              <a:rPr lang="en-US"/>
              <a:t> </a:t>
            </a:r>
            <a:r>
              <a:rPr lang="en-US" sz="2000"/>
              <a:t>(Continued)</a:t>
            </a:r>
            <a:endParaRPr/>
          </a:p>
        </p:txBody>
      </p:sp>
      <p:sp>
        <p:nvSpPr>
          <p:cNvPr id="140" name="Google Shape;140;p12"/>
          <p:cNvSpPr txBox="1"/>
          <p:nvPr/>
        </p:nvSpPr>
        <p:spPr>
          <a:xfrm>
            <a:off x="431800" y="1214475"/>
            <a:ext cx="6877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sz="14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type on</a:t>
            </a:r>
            <a:r>
              <a:rPr lang="en-US"/>
              <a:t> the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LHS not legal </a:t>
            </a:r>
            <a:r>
              <a:rPr lang="en-US"/>
              <a:t>i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an </a:t>
            </a:r>
            <a:r>
              <a:rPr lang="en-US" sz="14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assign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statement (continuous assignment):</a:t>
            </a:r>
            <a:endParaRPr/>
          </a:p>
        </p:txBody>
      </p:sp>
      <p:sp>
        <p:nvSpPr>
          <p:cNvPr id="141" name="Google Shape;141;p12"/>
          <p:cNvSpPr txBox="1"/>
          <p:nvPr/>
        </p:nvSpPr>
        <p:spPr>
          <a:xfrm>
            <a:off x="617982" y="3884125"/>
            <a:ext cx="345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 type on the Right Hand Side (RHS) is legal </a:t>
            </a:r>
            <a:r>
              <a:rPr lang="en-US"/>
              <a:t>i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an </a:t>
            </a:r>
            <a:r>
              <a:rPr lang="en-US" sz="14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assign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statement</a:t>
            </a:r>
            <a:endParaRPr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799" y="1592582"/>
            <a:ext cx="6136401" cy="1039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7775" y="3206771"/>
            <a:ext cx="2947450" cy="1877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Data Types:</a:t>
            </a:r>
            <a:r>
              <a:rPr lang="en-US"/>
              <a:t> 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wire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13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6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wire</a:t>
            </a:r>
            <a:r>
              <a:rPr lang="en-US"/>
              <a:t> can used to connect the input ports and output ports between different modules.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311700" y="1874875"/>
            <a:ext cx="353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wire</a:t>
            </a:r>
            <a:r>
              <a:rPr lang="en-US" sz="1500"/>
              <a:t>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used with both the inputs and outputs of a module</a:t>
            </a:r>
            <a:endParaRPr/>
          </a:p>
        </p:txBody>
      </p:sp>
      <p:pic>
        <p:nvPicPr>
          <p:cNvPr id="151" name="Google Shape;15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7" y="2393329"/>
            <a:ext cx="3531491" cy="114641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3"/>
          <p:cNvSpPr txBox="1"/>
          <p:nvPr/>
        </p:nvSpPr>
        <p:spPr>
          <a:xfrm>
            <a:off x="4246123" y="1486121"/>
            <a:ext cx="478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wire</a:t>
            </a:r>
            <a:r>
              <a:rPr lang="en-US" sz="1500"/>
              <a:t>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only legal type on t</a:t>
            </a:r>
            <a:r>
              <a:rPr lang="en-US" sz="1500"/>
              <a:t>he</a:t>
            </a: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LHS in an </a:t>
            </a:r>
            <a:r>
              <a:rPr lang="en-US" sz="15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assign</a:t>
            </a: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statement</a:t>
            </a:r>
            <a:endParaRPr/>
          </a:p>
        </p:txBody>
      </p:sp>
      <p:pic>
        <p:nvPicPr>
          <p:cNvPr id="153" name="Google Shape;15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6250" y="2040225"/>
            <a:ext cx="2740675" cy="31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Data Types:</a:t>
            </a:r>
            <a:r>
              <a:rPr lang="en-US"/>
              <a:t> 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wire</a:t>
            </a:r>
            <a:r>
              <a:rPr lang="en-US"/>
              <a:t> </a:t>
            </a:r>
            <a:r>
              <a:rPr lang="en-US" sz="2000"/>
              <a:t>(Continued)</a:t>
            </a:r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5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wire</a:t>
            </a:r>
            <a:r>
              <a:rPr lang="en-US"/>
              <a:t> is stateless and doesn’t store data</a:t>
            </a:r>
            <a:endParaRPr/>
          </a:p>
        </p:txBody>
      </p:sp>
      <p:pic>
        <p:nvPicPr>
          <p:cNvPr id="160" name="Google Shape;1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7126" y="1477113"/>
            <a:ext cx="6909654" cy="179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0404" y="3583518"/>
            <a:ext cx="5423180" cy="132721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4"/>
          <p:cNvSpPr txBox="1"/>
          <p:nvPr/>
        </p:nvSpPr>
        <p:spPr>
          <a:xfrm>
            <a:off x="2832601" y="3275717"/>
            <a:ext cx="347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Mostly used in combinational logic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Data Types:</a:t>
            </a:r>
            <a:r>
              <a:rPr lang="en-US"/>
              <a:t> Arrays</a:t>
            </a:r>
            <a:endParaRPr/>
          </a:p>
        </p:txBody>
      </p:sp>
      <p:sp>
        <p:nvSpPr>
          <p:cNvPr id="168" name="Google Shape;168;p15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480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Syntax: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Declare an array: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&lt;</a:t>
            </a:r>
            <a:r>
              <a:rPr lang="en-US" i="1">
                <a:latin typeface="Consolas"/>
                <a:ea typeface="Consolas"/>
                <a:cs typeface="Consolas"/>
                <a:sym typeface="Consolas"/>
              </a:rPr>
              <a:t>data-type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&gt; &lt;</a:t>
            </a:r>
            <a:r>
              <a:rPr lang="en-US" i="1"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&gt;[&lt;</a:t>
            </a:r>
            <a:r>
              <a:rPr lang="en-US" i="1"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&gt;]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Update an element: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&lt;array&gt;[&lt;</a:t>
            </a:r>
            <a:r>
              <a:rPr lang="en-US" i="1"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&gt;] = &lt;</a:t>
            </a:r>
            <a:r>
              <a:rPr lang="en-US" i="1">
                <a:latin typeface="Consolas"/>
                <a:ea typeface="Consolas"/>
                <a:cs typeface="Consolas"/>
                <a:sym typeface="Consolas"/>
              </a:rPr>
              <a:t>new value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Access an element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i="1"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&gt;[&lt;</a:t>
            </a:r>
            <a:r>
              <a:rPr lang="en-US" i="1"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&gt;]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9" name="Google Shape;1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3728" y="1281325"/>
            <a:ext cx="3892219" cy="681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3728" y="2404454"/>
            <a:ext cx="2191574" cy="334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3728" y="3180588"/>
            <a:ext cx="3551424" cy="681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Data Types:</a:t>
            </a:r>
            <a:r>
              <a:rPr lang="en-US"/>
              <a:t> Arrays </a:t>
            </a:r>
            <a:r>
              <a:rPr lang="en-US" sz="2400"/>
              <a:t>(continued)</a:t>
            </a:r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603700" cy="3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Other types of array indexing: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reg [7:0] memory [0:3];</a:t>
            </a:r>
            <a:r>
              <a:rPr lang="en-US"/>
              <a:t> // declare of an array with length of 4 and 8-bit width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Mostly used for holding values: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memory[0] = 8’hA0;</a:t>
            </a:r>
            <a:r>
              <a:rPr lang="en-US"/>
              <a:t>			// assign hex-value 0xA0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memory[1] = 8’b10001000;	</a:t>
            </a:r>
            <a:r>
              <a:rPr lang="en-US"/>
              <a:t>// assign binary value 1000 1000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……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Note: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[0:7]</a:t>
            </a:r>
            <a:r>
              <a:rPr lang="en-US"/>
              <a:t> (0 to 7) and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[7:0]</a:t>
            </a:r>
            <a:r>
              <a:rPr lang="en-US"/>
              <a:t> (7 down to 0). Both can hold 8-bit width data, but the indices order are different.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Blocking and Non-Blocking Assignments</a:t>
            </a:r>
            <a:endParaRPr b="1"/>
          </a:p>
        </p:txBody>
      </p:sp>
      <p:sp>
        <p:nvSpPr>
          <p:cNvPr id="183" name="Google Shape;183;p17"/>
          <p:cNvSpPr txBox="1">
            <a:spLocks noGrp="1"/>
          </p:cNvSpPr>
          <p:nvPr>
            <p:ph type="body" idx="1"/>
          </p:nvPr>
        </p:nvSpPr>
        <p:spPr>
          <a:xfrm>
            <a:off x="311700" y="829682"/>
            <a:ext cx="8520600" cy="4155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Syntax: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500"/>
              <a:t>In blocking, the statements are executed sequentially.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500"/>
              <a:t>In non-blocking, the statements are executed simultaneously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500"/>
              <a:t>For example: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500"/>
              <a:t>	initially:	</a:t>
            </a: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a = 1, b =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500"/>
              <a:t>	run: 		</a:t>
            </a: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a &lt;= a + 2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500"/>
              <a:t>			</a:t>
            </a: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b &lt;= 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500"/>
              <a:t>We have a = 3, and b = 1. Each operation takes two steps to finish.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500"/>
              <a:t>Compute the RHS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500"/>
              <a:t>Assign value of LHS to RHS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500"/>
              <a:t>In both a and b, the statements compute the RHS simultaneously, and assign the RHS value to LHS simultaneously. </a:t>
            </a:r>
            <a:endParaRPr/>
          </a:p>
        </p:txBody>
      </p:sp>
      <p:graphicFrame>
        <p:nvGraphicFramePr>
          <p:cNvPr id="184" name="Google Shape;184;p17"/>
          <p:cNvGraphicFramePr/>
          <p:nvPr/>
        </p:nvGraphicFramePr>
        <p:xfrm>
          <a:off x="1524000" y="1013206"/>
          <a:ext cx="6096000" cy="741700"/>
        </p:xfrm>
        <a:graphic>
          <a:graphicData uri="http://schemas.openxmlformats.org/drawingml/2006/table">
            <a:tbl>
              <a:tblPr firstRow="1" bandRow="1">
                <a:noFill/>
                <a:tableStyleId>{0BBD9C84-7A14-4F30-95C7-7FFE6B773DDB}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Blocking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Non-blocking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 = 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 &lt;= 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>
            <a:spLocks noGrp="1"/>
          </p:cNvSpPr>
          <p:nvPr>
            <p:ph type="title"/>
          </p:nvPr>
        </p:nvSpPr>
        <p:spPr>
          <a:xfrm>
            <a:off x="234625" y="158675"/>
            <a:ext cx="870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Blocking and Non-Blocking Assignments </a:t>
            </a:r>
            <a:r>
              <a:rPr lang="en-US" sz="2000" b="1"/>
              <a:t>(continued)</a:t>
            </a:r>
            <a:endParaRPr sz="2400" b="1"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Consider the following set up: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Initially a = 1, b = 2, c = 3. Execute the following statements twice: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Result: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aphicFrame>
        <p:nvGraphicFramePr>
          <p:cNvPr id="191" name="Google Shape;191;p18"/>
          <p:cNvGraphicFramePr/>
          <p:nvPr/>
        </p:nvGraphicFramePr>
        <p:xfrm>
          <a:off x="1786128" y="1409750"/>
          <a:ext cx="5571750" cy="609620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FFD17D"/>
                    </a:gs>
                    <a:gs pos="35000">
                      <a:srgbClr val="FFDCA3"/>
                    </a:gs>
                    <a:gs pos="100000">
                      <a:srgbClr val="FFF1D8"/>
                    </a:gs>
                  </a:gsLst>
                  <a:lin ang="16200000" scaled="0"/>
                </a:gradFill>
                <a:tableStyleId>{78B65A67-4CA3-4DC8-9A59-57630A8435B8}</a:tableStyleId>
              </a:tblPr>
              <a:tblGrid>
                <a:gridCol w="27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Blocking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Non-blocking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 = c, b = a, c = 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 &lt;= c, b &lt;= a, c &lt;= 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2" name="Google Shape;192;p18"/>
          <p:cNvGraphicFramePr/>
          <p:nvPr/>
        </p:nvGraphicFramePr>
        <p:xfrm>
          <a:off x="1560576" y="2082950"/>
          <a:ext cx="6022800" cy="2743290"/>
        </p:xfrm>
        <a:graphic>
          <a:graphicData uri="http://schemas.openxmlformats.org/drawingml/2006/table">
            <a:tbl>
              <a:tblPr bandRow="1">
                <a:noFill/>
                <a:tableStyleId>{0BBD9C84-7A14-4F30-95C7-7FFE6B773DDB}</a:tableStyleId>
              </a:tblPr>
              <a:tblGrid>
                <a:gridCol w="150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Blocking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Initial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r>
                        <a:rPr lang="en-US" sz="1400" u="none" strike="noStrike" cap="none" baseline="30000"/>
                        <a:t>st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r>
                        <a:rPr lang="en-US" sz="1400" u="none" strike="noStrike" cap="none" baseline="30000"/>
                        <a:t>nd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5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4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0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Non-blocking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Initial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r>
                        <a:rPr lang="en-US" sz="1400" u="none" strike="noStrike" cap="none" baseline="30000"/>
                        <a:t>st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r>
                        <a:rPr lang="en-US" sz="1400" u="none" strike="noStrike" cap="none" baseline="30000"/>
                        <a:t>nd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5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Modules:</a:t>
            </a:r>
            <a:r>
              <a:rPr lang="en-US"/>
              <a:t> Instantiation</a:t>
            </a:r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body" idx="1"/>
          </p:nvPr>
        </p:nvSpPr>
        <p:spPr>
          <a:xfrm>
            <a:off x="4940850" y="1109472"/>
            <a:ext cx="389145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Instantiating another module inside a module by connecting their interfaces with wires.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This hierarchy structure allows the outer module to pass through input(s) to the inner module and to get output(s) from it. </a:t>
            </a:r>
            <a:endParaRPr/>
          </a:p>
        </p:txBody>
      </p:sp>
      <p:pic>
        <p:nvPicPr>
          <p:cNvPr id="199" name="Google Shape;19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228725"/>
            <a:ext cx="462915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Modules:</a:t>
            </a:r>
            <a:r>
              <a:rPr lang="en-US"/>
              <a:t> Instantiation </a:t>
            </a:r>
            <a:r>
              <a:rPr lang="en-US" sz="2000"/>
              <a:t>(continued)</a:t>
            </a:r>
            <a:endParaRPr sz="2000"/>
          </a:p>
        </p:txBody>
      </p:sp>
      <p:sp>
        <p:nvSpPr>
          <p:cNvPr id="205" name="Google Shape;205;p20"/>
          <p:cNvSpPr txBox="1">
            <a:spLocks noGrp="1"/>
          </p:cNvSpPr>
          <p:nvPr>
            <p:ph type="body" idx="1"/>
          </p:nvPr>
        </p:nvSpPr>
        <p:spPr>
          <a:xfrm>
            <a:off x="311700" y="2819001"/>
            <a:ext cx="8520600" cy="21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Inner module(left) and outer module(right).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There are two instantiation methods: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by position(above): corresponding variables must be at the correct positions.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by name: positions doesn’t matter. Different syntax.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inner_module IM(.input1(in1), .input2(in2), .out_put(out))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731374"/>
            <a:ext cx="4239680" cy="184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7114" y="731374"/>
            <a:ext cx="3629452" cy="208761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6851904" y="2255520"/>
            <a:ext cx="1426464" cy="316229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 rot="10800000" flipH="1">
            <a:off x="7217664" y="2571749"/>
            <a:ext cx="231648" cy="1354075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Modules:</a:t>
            </a:r>
            <a:r>
              <a:rPr lang="en-US"/>
              <a:t> Port Connections</a:t>
            </a:r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body" idx="1"/>
          </p:nvPr>
        </p:nvSpPr>
        <p:spPr>
          <a:xfrm>
            <a:off x="311700" y="834390"/>
            <a:ext cx="85206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Recall from the last section, multiple modules can be instantiated in the same module.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Modules have input and output interfaces. Different modules can be connected by linking the interfaces with </a:t>
            </a:r>
            <a:r>
              <a:rPr lang="en-US">
                <a:solidFill>
                  <a:srgbClr val="FF0000"/>
                </a:solidFill>
              </a:rPr>
              <a:t>wires</a:t>
            </a:r>
            <a:r>
              <a:rPr lang="en-US"/>
              <a:t>.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Once you have finished designing and implementing all the modules, you need to connect them together to simulate the MIPS processor.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Modules:</a:t>
            </a:r>
            <a:r>
              <a:rPr lang="en-US"/>
              <a:t> Port Connections (continuous)</a:t>
            </a:r>
            <a:endParaRPr/>
          </a:p>
        </p:txBody>
      </p:sp>
      <p:sp>
        <p:nvSpPr>
          <p:cNvPr id="221" name="Google Shape;221;p22"/>
          <p:cNvSpPr txBox="1">
            <a:spLocks noGrp="1"/>
          </p:cNvSpPr>
          <p:nvPr>
            <p:ph type="body" idx="1"/>
          </p:nvPr>
        </p:nvSpPr>
        <p:spPr>
          <a:xfrm>
            <a:off x="311700" y="834390"/>
            <a:ext cx="8520600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700"/>
              <a:t>Using the example in module instantiations section with 2 additional inner modules. For simplicity, these two are the same as the first module but with different names.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4572000" y="1748935"/>
            <a:ext cx="42603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1 and module 2 take inputs in1 and in2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3 takes output from module 1 and module 2, produc</a:t>
            </a:r>
            <a:r>
              <a:rPr lang="en-US" sz="1800">
                <a:solidFill>
                  <a:schemeClr val="dk1"/>
                </a:solidFill>
              </a:rPr>
              <a:t>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output for the outer module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need 2 wires to connect module 3’s input ports with module 1’s and 2’s output port, which is </a:t>
            </a:r>
            <a:r>
              <a:rPr lang="en-US" sz="18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IM1_output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IM2_output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code. </a:t>
            </a:r>
            <a:endParaRPr/>
          </a:p>
        </p:txBody>
      </p:sp>
      <p:pic>
        <p:nvPicPr>
          <p:cNvPr id="223" name="Google Shape;22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645920"/>
            <a:ext cx="4260300" cy="2743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Modules:</a:t>
            </a:r>
            <a:r>
              <a:rPr lang="en-US"/>
              <a:t> Port Connections (continued)</a:t>
            </a:r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body" idx="1"/>
          </p:nvPr>
        </p:nvSpPr>
        <p:spPr>
          <a:xfrm>
            <a:off x="558186" y="972809"/>
            <a:ext cx="8027628" cy="91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You can use the function ‘open elaborated design’ in the Vivado IDE navigator window to view your schematic and compare it with your project design.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30" name="Google Shape;23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832" y="2131194"/>
            <a:ext cx="3077676" cy="2576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9026" y="2497559"/>
            <a:ext cx="4959142" cy="18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Behavioral vs Structural Verilog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Behavioral Verilog</a:t>
            </a:r>
            <a:endParaRPr b="1"/>
          </a:p>
        </p:txBody>
      </p:sp>
      <p:sp>
        <p:nvSpPr>
          <p:cNvPr id="242" name="Google Shape;24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311700" y="1017725"/>
            <a:ext cx="376299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 mux_4to1 ( a, b, c, d, s0, s1, out);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50" lvl="2" indent="57150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wire a, b, c, d;</a:t>
            </a:r>
            <a:endParaRPr dirty="0"/>
          </a:p>
          <a:p>
            <a:pPr marL="349250" lvl="2" indent="57150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wire s0, s1;</a:t>
            </a:r>
            <a:endParaRPr dirty="0"/>
          </a:p>
          <a:p>
            <a:pPr marL="349250" lvl="2" indent="57150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reg out;</a:t>
            </a:r>
            <a:endParaRPr dirty="0"/>
          </a:p>
          <a:p>
            <a:pPr marL="349250" lvl="2" indent="57150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always @ (a or b or c or d or s0, s1)</a:t>
            </a:r>
            <a:endParaRPr dirty="0"/>
          </a:p>
          <a:p>
            <a:pPr marL="349250" lvl="2" indent="57150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dirty="0"/>
          </a:p>
          <a:p>
            <a:pPr marL="349250" lvl="2" indent="285750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(s0 | s1)</a:t>
            </a:r>
            <a:endParaRPr dirty="0"/>
          </a:p>
          <a:p>
            <a:pPr marL="349250" lvl="2" indent="684213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2'b00 : out &lt;= a;</a:t>
            </a:r>
            <a:endParaRPr dirty="0"/>
          </a:p>
          <a:p>
            <a:pPr marL="349250" lvl="2" indent="684213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2'b01 : out &lt;= b;</a:t>
            </a:r>
            <a:endParaRPr dirty="0"/>
          </a:p>
          <a:p>
            <a:pPr marL="349250" lvl="2" indent="684213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2'b10 : out &lt;= c;</a:t>
            </a:r>
            <a:endParaRPr dirty="0"/>
          </a:p>
          <a:p>
            <a:pPr marL="349250" lvl="2" indent="684213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2'b11 : out &lt;= d;</a:t>
            </a:r>
            <a:endParaRPr dirty="0"/>
          </a:p>
          <a:p>
            <a:pPr marL="349250" lvl="2" indent="285750"/>
            <a:r>
              <a:rPr lang="en-US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endcase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9250" lvl="2" indent="57150"/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endmodule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9950" y="1017715"/>
            <a:ext cx="5434052" cy="3488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Structural Verilog</a:t>
            </a:r>
            <a:endParaRPr b="1"/>
          </a:p>
        </p:txBody>
      </p:sp>
      <p:sp>
        <p:nvSpPr>
          <p:cNvPr id="250" name="Google Shape;25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51" name="Google Shape;25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9074" y="1112756"/>
            <a:ext cx="4409484" cy="366536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/>
          <p:nvPr/>
        </p:nvSpPr>
        <p:spPr>
          <a:xfrm>
            <a:off x="585536" y="1248728"/>
            <a:ext cx="3429796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indent="79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 mux_4to1(out, a, b, c, d, s0, s1);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out;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a, b, c, d, s0, s1;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wire s0bar, s1bar, T1, T2, T3;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u1(s1bar, s1);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u2(s0bar, s0);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u3(T1, a, s0bar, s1bar);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u4(T2, b, s0, s1bar);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u5(T3, c, s0bar, s1);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u6(T4, d, s0, s1);</a:t>
            </a:r>
            <a:endParaRPr dirty="0"/>
          </a:p>
          <a:p>
            <a:pPr marR="0" lvl="0" indent="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u7(out, T1, T2, T3, T4);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endmodule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Datapath Diagram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>
            <a:spLocks noGrp="1"/>
          </p:cNvSpPr>
          <p:nvPr>
            <p:ph type="title"/>
          </p:nvPr>
        </p:nvSpPr>
        <p:spPr>
          <a:xfrm>
            <a:off x="311700" y="335750"/>
            <a:ext cx="8520600" cy="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MIPS Datapath:</a:t>
            </a:r>
            <a:r>
              <a:rPr lang="en-US"/>
              <a:t> add</a:t>
            </a:r>
            <a:endParaRPr/>
          </a:p>
        </p:txBody>
      </p:sp>
      <p:sp>
        <p:nvSpPr>
          <p:cNvPr id="263" name="Google Shape;26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48B2CF3-F787-2618-DD6A-895132567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1837"/>
            <a:ext cx="9144000" cy="412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/>
              <a:t>MIPS Datapath:</a:t>
            </a:r>
            <a:r>
              <a:rPr lang="en-US"/>
              <a:t> lw</a:t>
            </a:r>
            <a:endParaRPr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0DD2ED-FAE8-57D1-CA9C-E62E4D29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8368"/>
            <a:ext cx="9144000" cy="388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MIPS Datapath:</a:t>
            </a:r>
            <a:r>
              <a:rPr lang="en-US" dirty="0"/>
              <a:t> </a:t>
            </a:r>
            <a:r>
              <a:rPr lang="en-US" dirty="0" err="1"/>
              <a:t>sw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277" name="Google Shape;277;p30"/>
          <p:cNvSpPr txBox="1">
            <a:spLocks noGrp="1"/>
          </p:cNvSpPr>
          <p:nvPr>
            <p:ph type="body" idx="1"/>
          </p:nvPr>
        </p:nvSpPr>
        <p:spPr>
          <a:xfrm>
            <a:off x="1534528" y="116940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B0A2B5-550F-4FFC-875F-4903C12B6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7058"/>
            <a:ext cx="9144000" cy="400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DCD4B08C-7C22-F84F-3ABA-0A4CBDEF9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>
            <a:extLst>
              <a:ext uri="{FF2B5EF4-FFF2-40B4-BE49-F238E27FC236}">
                <a16:creationId xmlns:a16="http://schemas.microsoft.com/office/drawing/2014/main" id="{61DA3F02-25B8-A5BF-3887-ADEB1F54A1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MIPS Datapath:</a:t>
            </a:r>
            <a:r>
              <a:rPr lang="en-US" dirty="0"/>
              <a:t> </a:t>
            </a:r>
            <a:r>
              <a:rPr lang="en-US" dirty="0" err="1"/>
              <a:t>beq</a:t>
            </a:r>
            <a:r>
              <a:rPr lang="en-US" dirty="0"/>
              <a:t> and </a:t>
            </a:r>
            <a:r>
              <a:rPr lang="en-US" dirty="0" err="1"/>
              <a:t>bne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277" name="Google Shape;277;p30">
            <a:extLst>
              <a:ext uri="{FF2B5EF4-FFF2-40B4-BE49-F238E27FC236}">
                <a16:creationId xmlns:a16="http://schemas.microsoft.com/office/drawing/2014/main" id="{828FF3EA-FD88-76A1-4F92-9CA9A4D1E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34528" y="116940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B5127EA-7624-0C30-09E8-98556308F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" y="926378"/>
            <a:ext cx="8832300" cy="415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152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>
            <a:spLocks noGrp="1"/>
          </p:cNvSpPr>
          <p:nvPr>
            <p:ph type="title"/>
          </p:nvPr>
        </p:nvSpPr>
        <p:spPr>
          <a:xfrm>
            <a:off x="343784" y="1765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Design Ideas of Individual Components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/>
        </p:nvSpPr>
        <p:spPr>
          <a:xfrm>
            <a:off x="213359" y="259079"/>
            <a:ext cx="15191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4C3383-6FB3-F62C-001A-11E12F834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151" y="1163039"/>
            <a:ext cx="5475068" cy="293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/>
          <p:nvPr/>
        </p:nvSpPr>
        <p:spPr>
          <a:xfrm>
            <a:off x="213360" y="259080"/>
            <a:ext cx="109728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2B2600-36B8-F4B4-8EC7-3D5C34760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768" y="735044"/>
            <a:ext cx="4512464" cy="367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/>
          <p:nvPr/>
        </p:nvSpPr>
        <p:spPr>
          <a:xfrm>
            <a:off x="50482" y="2444792"/>
            <a:ext cx="109728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5AD951-3049-2564-E073-ACA8C3795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2" y="280987"/>
            <a:ext cx="6848475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/>
          <p:nvPr/>
        </p:nvSpPr>
        <p:spPr>
          <a:xfrm>
            <a:off x="213360" y="259080"/>
            <a:ext cx="109728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5FA84E-D37C-E433-B730-8EBD96BAD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05" y="1065818"/>
            <a:ext cx="6248400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/>
        </p:nvSpPr>
        <p:spPr>
          <a:xfrm>
            <a:off x="289560" y="579121"/>
            <a:ext cx="47396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Modes – Read from Memory (lw)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– Write into Memory (sw)</a:t>
            </a:r>
            <a:endParaRPr/>
          </a:p>
        </p:txBody>
      </p:sp>
      <p:sp>
        <p:nvSpPr>
          <p:cNvPr id="325" name="Google Shape;325;p36"/>
          <p:cNvSpPr txBox="1"/>
          <p:nvPr/>
        </p:nvSpPr>
        <p:spPr>
          <a:xfrm>
            <a:off x="213360" y="259080"/>
            <a:ext cx="109728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AF255F8-EE28-742A-4C64-6DEC69CA3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463" y="1490663"/>
            <a:ext cx="399097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7"/>
          <p:cNvSpPr txBox="1"/>
          <p:nvPr/>
        </p:nvSpPr>
        <p:spPr>
          <a:xfrm>
            <a:off x="411480" y="365760"/>
            <a:ext cx="269748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CONTROL UNIT</a:t>
            </a:r>
            <a:endParaRPr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64B409C-5B2C-AFE1-81E2-94C4E93B1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7" y="673176"/>
            <a:ext cx="572452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Where to Start</a:t>
            </a:r>
            <a:endParaRPr b="1"/>
          </a:p>
        </p:txBody>
      </p:sp>
      <p:sp>
        <p:nvSpPr>
          <p:cNvPr id="338" name="Google Shape;338;p38"/>
          <p:cNvSpPr txBox="1">
            <a:spLocks noGrp="1"/>
          </p:cNvSpPr>
          <p:nvPr>
            <p:ph type="body" idx="1"/>
          </p:nvPr>
        </p:nvSpPr>
        <p:spPr>
          <a:xfrm>
            <a:off x="375557" y="1082040"/>
            <a:ext cx="8520600" cy="365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Refer to FAQ in project description 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Partial Credits – Individual Modules will be graded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-US" dirty="0"/>
              <a:t>Test each module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Start with PC, ALU and build from there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Attend TA Office Hours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rgbClr val="FF0000"/>
                </a:solidFill>
              </a:rPr>
              <a:t>DO NOT COPY!!!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-US" sz="1600" dirty="0"/>
              <a:t>We have access to </a:t>
            </a:r>
            <a:r>
              <a:rPr lang="en-US" sz="1600" dirty="0" err="1"/>
              <a:t>src</a:t>
            </a:r>
            <a:r>
              <a:rPr lang="en-US" sz="1600" dirty="0"/>
              <a:t> code from previous years, </a:t>
            </a:r>
            <a:r>
              <a:rPr lang="en-US" sz="1600" dirty="0" err="1"/>
              <a:t>Github</a:t>
            </a:r>
            <a:r>
              <a:rPr lang="en-US" sz="1600" dirty="0"/>
              <a:t> and other online materials as well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-US" sz="1600" dirty="0"/>
              <a:t>We use multiple plagiarism check resources, such as MOSS to check for academic integrity violations</a:t>
            </a: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91440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91440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1831</Words>
  <Application>Microsoft Macintosh PowerPoint</Application>
  <PresentationFormat>On-screen Show (16:9)</PresentationFormat>
  <Paragraphs>294</Paragraphs>
  <Slides>40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Consolas</vt:lpstr>
      <vt:lpstr>Simple Light</vt:lpstr>
      <vt:lpstr>PowerPoint Presentation</vt:lpstr>
      <vt:lpstr>Project 1</vt:lpstr>
      <vt:lpstr>PowerPoint Presentation</vt:lpstr>
      <vt:lpstr>Verilog Resources</vt:lpstr>
      <vt:lpstr> Important Verilog Keywords/ Concepts / Usages   </vt:lpstr>
      <vt:lpstr>Control Flow: always@</vt:lpstr>
      <vt:lpstr>Control Flow: assign</vt:lpstr>
      <vt:lpstr>Control Flow: case</vt:lpstr>
      <vt:lpstr>Control Flow: initial</vt:lpstr>
      <vt:lpstr>Control Flow: if-else</vt:lpstr>
      <vt:lpstr>PowerPoint Presentation</vt:lpstr>
      <vt:lpstr>Data Types: reg</vt:lpstr>
      <vt:lpstr>Data Types: reg (Continued)</vt:lpstr>
      <vt:lpstr>Data Types: wire</vt:lpstr>
      <vt:lpstr>Data Types: wire (Continued)</vt:lpstr>
      <vt:lpstr>Data Types: Arrays</vt:lpstr>
      <vt:lpstr>Data Types: Arrays (continued)</vt:lpstr>
      <vt:lpstr>Blocking and Non-Blocking Assignments</vt:lpstr>
      <vt:lpstr>Blocking and Non-Blocking Assignments (continued)</vt:lpstr>
      <vt:lpstr>Modules: Instantiation</vt:lpstr>
      <vt:lpstr>Modules: Instantiation (continued)</vt:lpstr>
      <vt:lpstr>Modules: Port Connections</vt:lpstr>
      <vt:lpstr>Modules: Port Connections (continuous)</vt:lpstr>
      <vt:lpstr>Modules: Port Connections (continued)</vt:lpstr>
      <vt:lpstr>Behavioral vs Structural Verilog</vt:lpstr>
      <vt:lpstr>Behavioral Verilog</vt:lpstr>
      <vt:lpstr>Structural Verilog</vt:lpstr>
      <vt:lpstr>Datapath Diagram</vt:lpstr>
      <vt:lpstr>MIPS Datapath: add</vt:lpstr>
      <vt:lpstr>MIPS Datapath: lw</vt:lpstr>
      <vt:lpstr>MIPS Datapath: sw </vt:lpstr>
      <vt:lpstr>MIPS Datapath: beq and bne </vt:lpstr>
      <vt:lpstr>Design Ideas of Individual Components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to Start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Naveena Elango</dc:creator>
  <cp:lastModifiedBy>Maroof, Naeem</cp:lastModifiedBy>
  <cp:revision>21</cp:revision>
  <dcterms:modified xsi:type="dcterms:W3CDTF">2026-09-22T02:43:35Z</dcterms:modified>
</cp:coreProperties>
</file>